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E5425-83B5-0F6C-886D-4BB1FA4A8610}" v="21" dt="2026-08-04T15:00:44.017"/>
    <p1510:client id="{5393FCDE-07A5-74F7-82D5-5E48538EFD54}" v="3" dt="2026-08-04T15:41:23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Eduardo Pereira Magalhaes" userId="afac58e2-26ca-4dff-8477-4a2797dfc298" providerId="ADAL" clId="{49B9C2E9-BD28-492A-A93A-161D8753F4BF}"/>
    <pc:docChg chg="custSel modSld">
      <pc:chgData name="Paulo Eduardo Pereira Magalhaes" userId="afac58e2-26ca-4dff-8477-4a2797dfc298" providerId="ADAL" clId="{49B9C2E9-BD28-492A-A93A-161D8753F4BF}" dt="2026-08-04T15:58:34.431" v="63" actId="255"/>
      <pc:docMkLst>
        <pc:docMk/>
      </pc:docMkLst>
      <pc:sldChg chg="modSp mod">
        <pc:chgData name="Paulo Eduardo Pereira Magalhaes" userId="afac58e2-26ca-4dff-8477-4a2797dfc298" providerId="ADAL" clId="{49B9C2E9-BD28-492A-A93A-161D8753F4BF}" dt="2026-08-04T15:45:39.820" v="16" actId="255"/>
        <pc:sldMkLst>
          <pc:docMk/>
          <pc:sldMk cId="0" sldId="257"/>
        </pc:sldMkLst>
        <pc:spChg chg="mod">
          <ac:chgData name="Paulo Eduardo Pereira Magalhaes" userId="afac58e2-26ca-4dff-8477-4a2797dfc298" providerId="ADAL" clId="{49B9C2E9-BD28-492A-A93A-161D8753F4BF}" dt="2026-08-04T15:45:25.470" v="14" actId="1410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45:39.820" v="16" actId="255"/>
          <ac:spMkLst>
            <pc:docMk/>
            <pc:sldMk cId="0" sldId="257"/>
            <ac:spMk id="20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44:23.781" v="11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44:41.853" v="13" actId="255"/>
          <ac:spMkLst>
            <pc:docMk/>
            <pc:sldMk cId="0" sldId="257"/>
            <ac:spMk id="25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44:33.012" v="12" actId="255"/>
          <ac:spMkLst>
            <pc:docMk/>
            <pc:sldMk cId="0" sldId="257"/>
            <ac:spMk id="26" creationId="{00000000-0000-0000-0000-000000000000}"/>
          </ac:spMkLst>
        </pc:spChg>
      </pc:sldChg>
      <pc:sldChg chg="modSp mod">
        <pc:chgData name="Paulo Eduardo Pereira Magalhaes" userId="afac58e2-26ca-4dff-8477-4a2797dfc298" providerId="ADAL" clId="{49B9C2E9-BD28-492A-A93A-161D8753F4BF}" dt="2026-08-04T15:47:28.498" v="22" actId="255"/>
        <pc:sldMkLst>
          <pc:docMk/>
          <pc:sldMk cId="0" sldId="258"/>
        </pc:sldMkLst>
        <pc:spChg chg="mod">
          <ac:chgData name="Paulo Eduardo Pereira Magalhaes" userId="afac58e2-26ca-4dff-8477-4a2797dfc298" providerId="ADAL" clId="{49B9C2E9-BD28-492A-A93A-161D8753F4BF}" dt="2026-08-04T15:45:53.325" v="17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46:13.003" v="20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47:28.498" v="22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45:59.735" v="18" actId="255"/>
          <ac:spMkLst>
            <pc:docMk/>
            <pc:sldMk cId="0" sldId="258"/>
            <ac:spMk id="13" creationId="{00000000-0000-0000-0000-000000000000}"/>
          </ac:spMkLst>
        </pc:spChg>
      </pc:sldChg>
      <pc:sldChg chg="modSp mod">
        <pc:chgData name="Paulo Eduardo Pereira Magalhaes" userId="afac58e2-26ca-4dff-8477-4a2797dfc298" providerId="ADAL" clId="{49B9C2E9-BD28-492A-A93A-161D8753F4BF}" dt="2026-08-04T15:48:27.750" v="29" actId="33524"/>
        <pc:sldMkLst>
          <pc:docMk/>
          <pc:sldMk cId="0" sldId="259"/>
        </pc:sldMkLst>
        <pc:spChg chg="mod">
          <ac:chgData name="Paulo Eduardo Pereira Magalhaes" userId="afac58e2-26ca-4dff-8477-4a2797dfc298" providerId="ADAL" clId="{49B9C2E9-BD28-492A-A93A-161D8753F4BF}" dt="2026-08-04T15:47:46.760" v="24" actId="25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47:50.916" v="25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48:09.158" v="28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48:27.750" v="29" actId="33524"/>
          <ac:spMkLst>
            <pc:docMk/>
            <pc:sldMk cId="0" sldId="259"/>
            <ac:spMk id="17" creationId="{00000000-0000-0000-0000-000000000000}"/>
          </ac:spMkLst>
        </pc:spChg>
      </pc:sldChg>
      <pc:sldChg chg="modSp mod">
        <pc:chgData name="Paulo Eduardo Pereira Magalhaes" userId="afac58e2-26ca-4dff-8477-4a2797dfc298" providerId="ADAL" clId="{49B9C2E9-BD28-492A-A93A-161D8753F4BF}" dt="2026-08-04T15:48:42.362" v="30" actId="255"/>
        <pc:sldMkLst>
          <pc:docMk/>
          <pc:sldMk cId="0" sldId="260"/>
        </pc:sldMkLst>
        <pc:spChg chg="mod">
          <ac:chgData name="Paulo Eduardo Pereira Magalhaes" userId="afac58e2-26ca-4dff-8477-4a2797dfc298" providerId="ADAL" clId="{49B9C2E9-BD28-492A-A93A-161D8753F4BF}" dt="2026-08-04T15:48:42.362" v="30" actId="255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Paulo Eduardo Pereira Magalhaes" userId="afac58e2-26ca-4dff-8477-4a2797dfc298" providerId="ADAL" clId="{49B9C2E9-BD28-492A-A93A-161D8753F4BF}" dt="2026-08-04T15:53:37.332" v="34" actId="255"/>
        <pc:sldMkLst>
          <pc:docMk/>
          <pc:sldMk cId="0" sldId="261"/>
        </pc:sldMkLst>
        <pc:spChg chg="mod">
          <ac:chgData name="Paulo Eduardo Pereira Magalhaes" userId="afac58e2-26ca-4dff-8477-4a2797dfc298" providerId="ADAL" clId="{49B9C2E9-BD28-492A-A93A-161D8753F4BF}" dt="2026-08-04T15:53:28.840" v="33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2:24.944" v="31" actId="26606"/>
          <ac:spMkLst>
            <pc:docMk/>
            <pc:sldMk cId="0" sldId="261"/>
            <ac:spMk id="8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2:24.944" v="31" actId="2660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2:24.944" v="31" actId="2660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2:24.944" v="31" actId="2660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2:24.944" v="31" actId="2660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2:24.944" v="31" actId="2660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2:24.944" v="31" actId="2660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2:24.944" v="31" actId="2660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2:24.944" v="31" actId="2660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2:24.944" v="31" actId="2660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3:37.332" v="34" actId="255"/>
          <ac:spMkLst>
            <pc:docMk/>
            <pc:sldMk cId="0" sldId="261"/>
            <ac:spMk id="21" creationId="{00000000-0000-0000-0000-000000000000}"/>
          </ac:spMkLst>
        </pc:spChg>
      </pc:sldChg>
      <pc:sldChg chg="modSp mod">
        <pc:chgData name="Paulo Eduardo Pereira Magalhaes" userId="afac58e2-26ca-4dff-8477-4a2797dfc298" providerId="ADAL" clId="{49B9C2E9-BD28-492A-A93A-161D8753F4BF}" dt="2026-08-04T15:56:59.381" v="59" actId="27636"/>
        <pc:sldMkLst>
          <pc:docMk/>
          <pc:sldMk cId="0" sldId="262"/>
        </pc:sldMkLst>
        <pc:spChg chg="mod">
          <ac:chgData name="Paulo Eduardo Pereira Magalhaes" userId="afac58e2-26ca-4dff-8477-4a2797dfc298" providerId="ADAL" clId="{49B9C2E9-BD28-492A-A93A-161D8753F4BF}" dt="2026-08-04T15:54:35.133" v="36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4:45.744" v="37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4:52.895" v="38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5:02.463" v="39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5:38.294" v="43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5:56.797" v="47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5:11.171" v="40" actId="25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5:41.649" v="44" actId="25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6:40.571" v="55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5:23.090" v="41" actId="255"/>
          <ac:spMkLst>
            <pc:docMk/>
            <pc:sldMk cId="0" sldId="262"/>
            <ac:spMk id="18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5:45.200" v="45" actId="25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6:47.713" v="56" actId="255"/>
          <ac:spMkLst>
            <pc:docMk/>
            <pc:sldMk cId="0" sldId="262"/>
            <ac:spMk id="20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5:30.063" v="42" actId="255"/>
          <ac:spMkLst>
            <pc:docMk/>
            <pc:sldMk cId="0" sldId="262"/>
            <ac:spMk id="22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5:49.421" v="46" actId="255"/>
          <ac:spMkLst>
            <pc:docMk/>
            <pc:sldMk cId="0" sldId="262"/>
            <ac:spMk id="23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6:59.381" v="59" actId="2763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4:25.345" v="35" actId="255"/>
          <ac:spMkLst>
            <pc:docMk/>
            <pc:sldMk cId="0" sldId="262"/>
            <ac:spMk id="27" creationId="{00000000-0000-0000-0000-000000000000}"/>
          </ac:spMkLst>
        </pc:spChg>
      </pc:sldChg>
      <pc:sldChg chg="modSp mod">
        <pc:chgData name="Paulo Eduardo Pereira Magalhaes" userId="afac58e2-26ca-4dff-8477-4a2797dfc298" providerId="ADAL" clId="{49B9C2E9-BD28-492A-A93A-161D8753F4BF}" dt="2026-08-04T15:58:34.431" v="63" actId="255"/>
        <pc:sldMkLst>
          <pc:docMk/>
          <pc:sldMk cId="0" sldId="263"/>
        </pc:sldMkLst>
        <pc:spChg chg="mod">
          <ac:chgData name="Paulo Eduardo Pereira Magalhaes" userId="afac58e2-26ca-4dff-8477-4a2797dfc298" providerId="ADAL" clId="{49B9C2E9-BD28-492A-A93A-161D8753F4BF}" dt="2026-08-04T15:58:16.260" v="60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8:21.168" v="61" actId="255"/>
          <ac:spMkLst>
            <pc:docMk/>
            <pc:sldMk cId="0" sldId="263"/>
            <ac:spMk id="15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8:26.641" v="62" actId="25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Paulo Eduardo Pereira Magalhaes" userId="afac58e2-26ca-4dff-8477-4a2797dfc298" providerId="ADAL" clId="{49B9C2E9-BD28-492A-A93A-161D8753F4BF}" dt="2026-08-04T15:58:34.431" v="63" actId="255"/>
          <ac:spMkLst>
            <pc:docMk/>
            <pc:sldMk cId="0" sldId="263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 Data story and audience framing are based on the prior analysis results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Analysis computed from the Bank Marketing dataset provided in the conversation; dataset documentation: bank-names.txt, including citation request for Moro, Laureano and Cortez (2011).
Chart values shown: 45,211 records, 5,289 subscribers, 11.70%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Analysis computed from the Bank Marketing dataset provided in the conversation; dataset documentation: bank-names.txt, including citation request for Moro, Laureano and Cortez (2011).
Key claim supported by computed chart values: conversion rate by previous campaign outcome shows success at 64.73%, other at 16.68%, failure at 12.61%, and unknown at 9.16%.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Analysis computed from the Bank Marketing dataset provided in the conversation; dataset documentation: bank-names.txt, including citation request for Moro, Laureano and Cortez (2011).
Key claim supported by computed values: average duration for subscribers = 537.3 seconds; average duration for non-subscribers = 221.2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Analysis computed from the Bank Marketing dataset provided in the conversation; dataset documentation: bank-names.txt, including citation request for Moro, Laureano and Cortez (2011).
Key claim supported by computed values: contact conversion rates were cellular 14.92%, telephone 13.42%, unknown 4.07%. Highest month conversion rates shown: March 51.99%, December 46.73%, September 46.46%, October 43.77%, April 19.68%.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Analysis computed from the Bank Marketing dataset provided in the conversation; dataset documentation: bank-names.txt, including citation request for Moro, Laureano and Cortez (2011).
Key claim supported by computed values: top occupations among subscribers were management 1,301; technician 840; blue-collar 708; admin. 631; retired 516. Additional statement about next analytical layer is a recommendation based on the business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Analysis computed from the Bank Marketing dataset provided in the conversation; dataset documentation: bank-names.txt, including citation request for Moro, Laureano and Cortez (2011).
Stakeholder actions are business recommendations derived from the analysis findings. They are not additional dataset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Analysis computed from the Bank Marketing dataset provided in the conversation; dataset documentation: bank-names.txt, including citation request for Moro, Laureano and Cortez (2011).
Recommended roadmap reflects business recommendations derived from the analysis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c1f49502a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B36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001B36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 Marketing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Campaign Optimization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12648" y="2999232"/>
            <a:ext cx="123444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12648" y="3246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D7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broad outreach to prioritized campaigns: a data-driven path </a:t>
            </a:r>
            <a:r>
              <a:rPr lang="en-US" sz="1350" dirty="0">
                <a:solidFill>
                  <a:srgbClr val="D7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</a:t>
            </a:r>
            <a:r>
              <a:rPr lang="en-US" sz="1350">
                <a:solidFill>
                  <a:srgbClr val="D7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</a:t>
            </a:r>
            <a:r>
              <a:rPr lang="en-US" sz="1350" dirty="0">
                <a:solidFill>
                  <a:srgbClr val="D7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term-deposit </a:t>
            </a:r>
            <a:r>
              <a:rPr lang="en-US" sz="1350">
                <a:solidFill>
                  <a:srgbClr val="D7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r>
              <a:rPr lang="en-US" sz="1350" dirty="0">
                <a:solidFill>
                  <a:srgbClr val="D7E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2648" y="58978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A8C1DB"/>
                </a:solidFill>
                <a:latin typeface="Aptos"/>
              </a:rPr>
              <a:t>Paulo Eduardo Pereira Magalhaes, Aug 2026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TAKEAWAY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campaign has a clear conversion opportunity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 small share of contacts become subscribers, so better targeting can improve commercial efficiency.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51560" cy="0"/>
          </a:xfrm>
          <a:prstGeom prst="line">
            <a:avLst/>
          </a:prstGeom>
          <a:noFill/>
          <a:ln w="279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21031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9808" y="158191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4B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45,211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contact records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444752"/>
            <a:ext cx="21031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035808" y="158191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11.7%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35808" y="201168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conversion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12080" y="1444752"/>
            <a:ext cx="21031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321808" y="158191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4B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5,289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21808" y="201168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98080" y="1444752"/>
            <a:ext cx="21031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07808" y="158191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70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88.3%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07808" y="201168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non-conversion pool</a:t>
            </a:r>
            <a:endParaRPr lang="en-US" sz="850" dirty="0"/>
          </a:p>
        </p:txBody>
      </p:sp>
      <p:pic>
        <p:nvPicPr>
          <p:cNvPr id="18" name="Image 0" descr="/mnt/data/ppt_conversion_donu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381" y="2743200"/>
            <a:ext cx="2564197" cy="28346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421641" y="4491601"/>
            <a:ext cx="6844457" cy="1378847"/>
          </a:xfrm>
          <a:prstGeom prst="roundRect">
            <a:avLst>
              <a:gd name="adj" fmla="val 8000"/>
            </a:avLst>
          </a:prstGeom>
          <a:solidFill>
            <a:srgbClr val="FFF3E6"/>
          </a:solidFill>
          <a:ln w="12700">
            <a:solidFill>
              <a:srgbClr val="F28C28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537494" y="4662923"/>
            <a:ext cx="6476023" cy="1116085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Storyline: improve conversion by moving from broad outreach to prioritized, insight-driven campaigns.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4421641" y="2880360"/>
            <a:ext cx="6840747" cy="1475549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004B8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537494" y="2904427"/>
            <a:ext cx="6609042" cy="307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BUSINESS QUESTION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537494" y="3211441"/>
            <a:ext cx="6609042" cy="97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customer, financial, and campaign characteristics are most strongly associated with term deposit subscription?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Marketing Case Study  |  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1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Prioritize customers with proven response history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campaign success is the clearest signal for future subscription.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51560" cy="0"/>
          </a:xfrm>
          <a:prstGeom prst="line">
            <a:avLst/>
          </a:prstGeom>
          <a:noFill/>
          <a:ln w="279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ppt_prev_outcom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40354"/>
            <a:ext cx="5852160" cy="32230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66560" y="1508760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 w="12700">
            <a:solidFill>
              <a:srgbClr val="004B8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040880" y="16733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4B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64.7%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495370" y="1710522"/>
            <a:ext cx="2366662" cy="448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after previous success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812280" y="2770632"/>
            <a:ext cx="19952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12280" y="3172968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positive response is not just a historical attribute. It is a practical prioritization rule for campaign lists and sales follow-up.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12280" y="4389120"/>
            <a:ext cx="4297680" cy="694944"/>
          </a:xfrm>
          <a:prstGeom prst="roundRect">
            <a:avLst>
              <a:gd name="adj" fmla="val 10526"/>
            </a:avLst>
          </a:prstGeom>
          <a:solidFill>
            <a:srgbClr val="EAF3FB"/>
          </a:solidFill>
          <a:ln w="12700">
            <a:solidFill>
              <a:srgbClr val="004B8D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976872" y="4507992"/>
            <a:ext cx="3968496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create a high-priority queue for customers with previous success.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Marketing Case Study  |  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2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Engagement quality matters more than contact volume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Subscribers stayed on calls more than twice as long on average.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51560" cy="0"/>
          </a:xfrm>
          <a:prstGeom prst="line">
            <a:avLst/>
          </a:prstGeom>
          <a:noFill/>
          <a:ln w="279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ppt_durati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12267"/>
            <a:ext cx="5577840" cy="30140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4630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693408" y="160020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537s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93408" y="202996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subscriber call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732520" y="14630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842248" y="160020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4B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221s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842248" y="202996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non-subscriber call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629400" y="266090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interpretation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29400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conversations reflect stronger customer engagement and better opportunity to explain the value proposition.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0" y="397764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FFF8EF"/>
          </a:solidFill>
          <a:ln w="12700">
            <a:solidFill>
              <a:srgbClr val="F28C2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812280" y="4077189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 caution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12280" y="440740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duration is known after contact. Use it for process learning but be careful if predicting before the call.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Marketing Case Study  |  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3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Channel and timing should become active campaign levers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Cellular, March, December, September, and October show stronger observed conversion.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51560" cy="0"/>
          </a:xfrm>
          <a:prstGeom prst="line">
            <a:avLst/>
          </a:prstGeom>
          <a:noFill/>
          <a:ln w="279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/mnt/data/ppt_contac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641"/>
            <a:ext cx="4983480" cy="27609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13258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1" descr="/mnt/data/ppt_month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926710"/>
            <a:ext cx="4983480" cy="276683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43000" y="5669280"/>
            <a:ext cx="9875520" cy="530352"/>
          </a:xfrm>
          <a:prstGeom prst="roundRect">
            <a:avLst>
              <a:gd name="adj" fmla="val 13793"/>
            </a:avLst>
          </a:prstGeom>
          <a:solidFill>
            <a:srgbClr val="FFF3E6"/>
          </a:solidFill>
          <a:ln w="12700">
            <a:solidFill>
              <a:srgbClr val="F28C28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1307592" y="5788152"/>
            <a:ext cx="954633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design should combine channel preference and seasonal timing, not treat all contacts as equal.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Marketing Case Study  |  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4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 investment-product outreach by opportunity pools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 volume is concentrated in a few occupation groups.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51560" cy="0"/>
          </a:xfrm>
          <a:prstGeom prst="line">
            <a:avLst/>
          </a:prstGeom>
          <a:noFill/>
          <a:ln w="279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ppt_job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04093"/>
            <a:ext cx="5943600" cy="32669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0" y="1426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High-opportunity pools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903720" y="1737360"/>
            <a:ext cx="4160520" cy="1020000"/>
          </a:xfrm>
          <a:prstGeom prst="roundRect">
            <a:avLst>
              <a:gd name="adj" fmla="val 10256"/>
            </a:avLst>
          </a:prstGeom>
          <a:solidFill>
            <a:srgbClr val="EAF3FB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114032" y="1874520"/>
            <a:ext cx="160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4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</a:t>
            </a:r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8759952" y="1874520"/>
            <a:ext cx="220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1,301 subscribers</a:t>
            </a:r>
            <a:endParaRPr lang="en-US" sz="2000"/>
          </a:p>
        </p:txBody>
      </p:sp>
      <p:sp>
        <p:nvSpPr>
          <p:cNvPr id="11" name="Text 8"/>
          <p:cNvSpPr/>
          <p:nvPr/>
        </p:nvSpPr>
        <p:spPr>
          <a:xfrm>
            <a:off x="7114032" y="2270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subscriber pool</a:t>
            </a:r>
            <a:endParaRPr lang="en-US" sz="2000"/>
          </a:p>
        </p:txBody>
      </p:sp>
      <p:sp>
        <p:nvSpPr>
          <p:cNvPr id="12" name="Shape 9"/>
          <p:cNvSpPr/>
          <p:nvPr/>
        </p:nvSpPr>
        <p:spPr>
          <a:xfrm>
            <a:off x="6903720" y="2849880"/>
            <a:ext cx="4160520" cy="10200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114032" y="2987040"/>
            <a:ext cx="160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4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Technician</a:t>
            </a:r>
            <a:endParaRPr lang="en-US" sz="2000"/>
          </a:p>
        </p:txBody>
      </p:sp>
      <p:sp>
        <p:nvSpPr>
          <p:cNvPr id="14" name="Text 11"/>
          <p:cNvSpPr/>
          <p:nvPr/>
        </p:nvSpPr>
        <p:spPr>
          <a:xfrm>
            <a:off x="8759952" y="2987040"/>
            <a:ext cx="220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840 subscribers</a:t>
            </a:r>
            <a:endParaRPr lang="en-US" sz="2000"/>
          </a:p>
        </p:txBody>
      </p:sp>
      <p:sp>
        <p:nvSpPr>
          <p:cNvPr id="15" name="Text 12"/>
          <p:cNvSpPr/>
          <p:nvPr/>
        </p:nvSpPr>
        <p:spPr>
          <a:xfrm>
            <a:off x="7114032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Skilled-professional segment</a:t>
            </a:r>
            <a:endParaRPr lang="en-US" sz="2000"/>
          </a:p>
        </p:txBody>
      </p:sp>
      <p:sp>
        <p:nvSpPr>
          <p:cNvPr id="16" name="Shape 13"/>
          <p:cNvSpPr/>
          <p:nvPr/>
        </p:nvSpPr>
        <p:spPr>
          <a:xfrm>
            <a:off x="6903720" y="3962400"/>
            <a:ext cx="4160520" cy="10200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7114032" y="4099560"/>
            <a:ext cx="160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4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</a:t>
            </a:r>
            <a:endParaRPr lang="en-US" sz="2000"/>
          </a:p>
        </p:txBody>
      </p:sp>
      <p:sp>
        <p:nvSpPr>
          <p:cNvPr id="18" name="Text 15"/>
          <p:cNvSpPr/>
          <p:nvPr/>
        </p:nvSpPr>
        <p:spPr>
          <a:xfrm>
            <a:off x="8759952" y="4099560"/>
            <a:ext cx="220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516 subscribers</a:t>
            </a:r>
            <a:endParaRPr lang="en-US" sz="2000"/>
          </a:p>
        </p:txBody>
      </p:sp>
      <p:sp>
        <p:nvSpPr>
          <p:cNvPr id="19" name="Text 16"/>
          <p:cNvSpPr/>
          <p:nvPr/>
        </p:nvSpPr>
        <p:spPr>
          <a:xfrm>
            <a:off x="7114032" y="4495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Retirement-income relevance</a:t>
            </a:r>
            <a:endParaRPr lang="en-US" sz="2000"/>
          </a:p>
        </p:txBody>
      </p:sp>
      <p:sp>
        <p:nvSpPr>
          <p:cNvPr id="20" name="Shape 17"/>
          <p:cNvSpPr/>
          <p:nvPr/>
        </p:nvSpPr>
        <p:spPr>
          <a:xfrm>
            <a:off x="6903720" y="5100320"/>
            <a:ext cx="4160520" cy="1280160"/>
          </a:xfrm>
          <a:prstGeom prst="roundRect">
            <a:avLst>
              <a:gd name="adj" fmla="val 12308"/>
            </a:avLst>
          </a:prstGeom>
          <a:solidFill>
            <a:srgbClr val="EAF3FB"/>
          </a:solidFill>
          <a:ln w="12700">
            <a:solidFill>
              <a:srgbClr val="004B8D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7068312" y="5200320"/>
            <a:ext cx="3900000" cy="10800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analytical layer: compare conversion rate and profitability by segment, not only subscriber count.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Marketing Case Study  |  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PLAYBOOK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the findings into coordinated business 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stakeholder group owns a different part of the conversion improvement system.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51560" cy="0"/>
          </a:xfrm>
          <a:prstGeom prst="line">
            <a:avLst/>
          </a:prstGeom>
          <a:noFill/>
          <a:ln w="279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6070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/>
          <p:nvPr/>
        </p:nvSpPr>
        <p:spPr>
          <a:xfrm>
            <a:off x="914400" y="17282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4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46120" y="1728216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4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decision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64040" y="172821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4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KPI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2311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219456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audiences with prior success and high-response timing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64040" y="2194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by campaign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914400" y="2907792"/>
            <a:ext cx="101498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Management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46120" y="2980944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lead queues and call-quality coaching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64040" y="29809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Contact-to-conversion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694176"/>
            <a:ext cx="101498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38039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Team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46120" y="3767328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Tailor investment-product messaging by segment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64040" y="37673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Take-up by segment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4480560"/>
            <a:ext cx="101498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14400" y="45902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Leadership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46120" y="45537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 budget toward higher-probability campaigns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64040" y="45537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and acquisition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5266944"/>
            <a:ext cx="101498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97280" y="580644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FFF3E6"/>
          </a:solidFill>
          <a:ln w="12700">
            <a:solidFill>
              <a:srgbClr val="F28C28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261872" y="5925312"/>
            <a:ext cx="9546336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principle: prioritize customers and campaigns using response history, channel performance, timing, and segment size.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Marketing Case Study  |  7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ROADMAP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insight to execution: three moves to increase conversion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analysis as a repeatable targeting system, not a one-time report.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051560" cy="0"/>
          </a:xfrm>
          <a:prstGeom prst="line">
            <a:avLst/>
          </a:prstGeom>
          <a:noFill/>
          <a:ln w="279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mnt/data/8cacf15a57.png"/>
          <p:cNvPicPr>
            <a:picLocks noChangeAspect="1"/>
          </p:cNvPicPr>
          <p:nvPr/>
        </p:nvPicPr>
        <p:blipFill>
          <a:blip r:embed="rId3"/>
          <a:srcRect l="17284" r="17284"/>
          <a:stretch/>
        </p:blipFill>
        <p:spPr>
          <a:xfrm>
            <a:off x="6812280" y="1143000"/>
            <a:ext cx="4846320" cy="4937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1143000"/>
            <a:ext cx="4846320" cy="4937760"/>
          </a:xfrm>
          <a:prstGeom prst="rect">
            <a:avLst/>
          </a:prstGeom>
          <a:solidFill>
            <a:srgbClr val="001B36">
              <a:alpha val="2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731520" y="1490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31520" y="15910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17320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Prioritize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18013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lead lists around previous success and high-response months.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907792"/>
            <a:ext cx="502920" cy="502920"/>
          </a:xfrm>
          <a:prstGeom prst="ellipse">
            <a:avLst/>
          </a:prstGeom>
          <a:solidFill>
            <a:srgbClr val="004B8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31520" y="3008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1732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Personalize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17320" y="321868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messaging by opportunity segment and channel.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31520" y="4325112"/>
            <a:ext cx="502920" cy="502920"/>
          </a:xfrm>
          <a:prstGeom prst="ellipse">
            <a:avLst/>
          </a:prstGeom>
          <a:solidFill>
            <a:srgbClr val="004B8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731520" y="44256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417320" y="4251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17320" y="463600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interpretable and tree-based models with recall-oriented metrics.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520" y="5596128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FFF3E6"/>
          </a:solidFill>
          <a:ln w="12700">
            <a:solidFill>
              <a:srgbClr val="F28C28">
                <a:alpha val="6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96112" y="5715000"/>
            <a:ext cx="5248656" cy="47548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message: smarter prioritization can improve conversion efficiency before increasing campaign volume.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Marketing Case Study  |  8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1017</Words>
  <Application>Microsoft Office PowerPoint</Application>
  <PresentationFormat>Widescreen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CAIXA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Campaign Optimization</dc:title>
  <dc:subject>Bank Marketing Dataset - Storytelling Findings</dc:subject>
  <dc:creator>Paulo Eduardo Pereira Magalhaes</dc:creator>
  <cp:lastModifiedBy>Paulo Eduardo Pereira Magalhaes</cp:lastModifiedBy>
  <cp:revision>11</cp:revision>
  <dcterms:created xsi:type="dcterms:W3CDTF">2026-08-04T14:51:08Z</dcterms:created>
  <dcterms:modified xsi:type="dcterms:W3CDTF">2026-08-04T15:58:36Z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52c4e12-c83b-458b-874f-4903c74d145e_Enabled">
    <vt:lpwstr>true</vt:lpwstr>
  </property>
  <property fmtid="{D5CDD505-2E9C-101B-9397-08002B2CF9AE}" pid="3" name="MSIP_Label_752c4e12-c83b-458b-874f-4903c74d145e_SetDate">
    <vt:lpwstr>2026-08-04T14:51:09Z</vt:lpwstr>
  </property>
  <property fmtid="{D5CDD505-2E9C-101B-9397-08002B2CF9AE}" pid="4" name="MSIP_Label_752c4e12-c83b-458b-874f-4903c74d145e_Method">
    <vt:lpwstr>Standard</vt:lpwstr>
  </property>
  <property fmtid="{D5CDD505-2E9C-101B-9397-08002B2CF9AE}" pid="5" name="MSIP_Label_752c4e12-c83b-458b-874f-4903c74d145e_Name">
    <vt:lpwstr>#INTERNO.CAIXA</vt:lpwstr>
  </property>
  <property fmtid="{D5CDD505-2E9C-101B-9397-08002B2CF9AE}" pid="6" name="MSIP_Label_752c4e12-c83b-458b-874f-4903c74d145e_SiteId">
    <vt:lpwstr>ab9bba98-684a-43fb-add8-9c2bebede229</vt:lpwstr>
  </property>
  <property fmtid="{D5CDD505-2E9C-101B-9397-08002B2CF9AE}" pid="7" name="MSIP_Label_752c4e12-c83b-458b-874f-4903c74d145e_ActionId">
    <vt:lpwstr>5d44494d-30c8-403c-a9e1-d1e6eda0bc86</vt:lpwstr>
  </property>
  <property fmtid="{D5CDD505-2E9C-101B-9397-08002B2CF9AE}" pid="8" name="MSIP_Label_752c4e12-c83b-458b-874f-4903c74d145e_ContentBits">
    <vt:lpwstr>0</vt:lpwstr>
  </property>
</Properties>
</file>